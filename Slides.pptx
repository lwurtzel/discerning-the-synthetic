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8" roundtripDataSignature="AMtx7mhq4JYPij6/8qfplReR5EQpKomPE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18" Type="http://customschemas.google.com/relationships/presentationmetadata" Target="meta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project in one line: can a CNN distinguish real from AI images, and does it generalize to generators it never trained on? That last part is where it gets interesting.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" name="Google Shape;4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Set up the stakes: fakes are convincing, new generators keep appearing, so generalization to unseen generators is the whole game.</a:t>
            </a:r>
            <a:endParaRPr/>
          </a:p>
        </p:txBody>
      </p:sp>
      <p:sp>
        <p:nvSpPr>
          <p:cNvPr id="44" name="Google Shape;44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" name="Google Shape;5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 from-scratch CNN hits 95% on CIFAKE. It looks like a solved problem — which sets up the twist on the next slide.</a:t>
            </a:r>
            <a:endParaRPr/>
          </a:p>
        </p:txBody>
      </p:sp>
      <p:sp>
        <p:nvSpPr>
          <p:cNvPr id="60" name="Google Shape;60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" name="Google Shape;7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reveal: 95% in-distribution drops to ~46% average on unseen generators — at or below chance. It memorized one generator's fingerprint, not a general notion of 'AI-generated.'</a:t>
            </a:r>
            <a:endParaRPr/>
          </a:p>
        </p:txBody>
      </p:sp>
      <p:sp>
        <p:nvSpPr>
          <p:cNvPr id="73" name="Google Shape;7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Set up Act 2 before the graph: GenImage is a much bigger, higher-resolution dataset spanning 8 generators. I trained a ResNet50V2 on three of them and tested on all eight — including five it never saw. Headline: 79% average accuracy, up from 46% for the CIFAKE model. The next slide breaks that down generator by generator.</a:t>
            </a:r>
            <a:endParaRPr/>
          </a:p>
        </p:txBody>
      </p:sp>
      <p:sp>
        <p:nvSpPr>
          <p:cNvPr id="87" name="Google Shape;87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" name="Google Shape;10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payoff figure. Every green bar (new model) beats its red bar (old model). Stars mark the three generators it trained on — near-ceiling there. The real story is the unstarred greens: still well above the red model and above chance, though they dip on ADM, VQDM, Midjourney, which it never saw. Improved generalization, not solved.</a:t>
            </a:r>
            <a:endParaRPr/>
          </a:p>
        </p:txBody>
      </p:sp>
      <p:sp>
        <p:nvSpPr>
          <p:cNvPr id="109" name="Google Shape;109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" name="Google Shape;11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failure is systematic, not random. It's a cautious model: almost never false-alarms on reals (96% right), but misses ~39% of fakes — and the misses concentrate on generators it never trained on, which it waves through as 'real.'</a:t>
            </a:r>
            <a:endParaRPr/>
          </a:p>
        </p:txBody>
      </p:sp>
      <p:sp>
        <p:nvSpPr>
          <p:cNvPr id="119" name="Google Shape;119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Because misses default to 'real,' we can move the threshold to trade real-accuracy for fake-catching. 0.80 is a defensible operating point. But honesty: this only picks which errors we make; the deep fix is still generalization.</a:t>
            </a:r>
            <a:endParaRPr/>
          </a:p>
        </p:txBody>
      </p:sp>
      <p:sp>
        <p:nvSpPr>
          <p:cNvPr id="132" name="Google Shape;132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" name="Google Shape;147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Grad-CAM shows the model looks at the subject itself, not the background — reading artifacts in how the object was rendered. A nice contrast with the low-res CIFAKE literature, which found background cues.</a:t>
            </a:r>
            <a:endParaRPr/>
          </a:p>
        </p:txBody>
      </p:sp>
      <p:sp>
        <p:nvSpPr>
          <p:cNvPr id="148" name="Google Shape;148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" name="Google Shape;158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Live demo: open the site or have the class scan the QR, play a quick round, and compare to the model. Keep it to a minute or two.</a:t>
            </a:r>
            <a:endParaRPr/>
          </a:p>
        </p:txBody>
      </p:sp>
      <p:sp>
        <p:nvSpPr>
          <p:cNvPr id="159" name="Google Shape;159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Three takeaways: brittleness, systematic failure toward 'real,' and generalization as the real frontier.</a:t>
            </a:r>
            <a:endParaRPr/>
          </a:p>
        </p:txBody>
      </p:sp>
      <p:sp>
        <p:nvSpPr>
          <p:cNvPr id="174" name="Google Shape;174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4" name="Google Shape;194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Framed as the professor's 'money and a year off' prompt: close the generalization gap with more and newer generators, stress-test robustness against real-world image manipulations, and calibrate and ship it as a usable tool.</a:t>
            </a:r>
            <a:endParaRPr/>
          </a:p>
        </p:txBody>
      </p:sp>
      <p:sp>
        <p:nvSpPr>
          <p:cNvPr id="195" name="Google Shape;195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5" name="Google Shape;215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Close and invite questions — you have 2 minutes of Q&amp;A.</a:t>
            </a:r>
            <a:endParaRPr/>
          </a:p>
        </p:txBody>
      </p:sp>
      <p:sp>
        <p:nvSpPr>
          <p:cNvPr id="216" name="Google Shape;216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213D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822960" y="1325880"/>
            <a:ext cx="1054303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4D3C2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34D3C2"/>
                </a:solidFill>
                <a:latin typeface="Calibri"/>
                <a:ea typeface="Calibri"/>
                <a:cs typeface="Calibri"/>
                <a:sym typeface="Calibri"/>
              </a:rPr>
              <a:t>AI CLASS  ·  CAPSTONE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457200" y="1783080"/>
            <a:ext cx="11274552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800"/>
              <a:buFont typeface="Cambria"/>
              <a:buNone/>
            </a:pPr>
            <a:r>
              <a:rPr b="1" i="0" lang="en-US" sz="5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Discerning the Synthetic</a:t>
            </a:r>
            <a:endParaRPr b="0" i="0" sz="5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1097280" y="3154680"/>
            <a:ext cx="9994392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FE8E4"/>
              </a:buClr>
              <a:buSzPts val="2100"/>
              <a:buFont typeface="Calibri"/>
              <a:buNone/>
            </a:pPr>
            <a:r>
              <a:rPr b="0" i="0" lang="en-US" sz="2100" u="none" cap="none" strike="noStrike">
                <a:solidFill>
                  <a:srgbClr val="CFE8E4"/>
                </a:solidFill>
                <a:latin typeface="Calibri"/>
                <a:ea typeface="Calibri"/>
                <a:cs typeface="Calibri"/>
                <a:sym typeface="Calibri"/>
              </a:rPr>
              <a:t>Can a neural network tell real photos from AI-generated images —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FE8E4"/>
              </a:buClr>
              <a:buSzPts val="2100"/>
              <a:buFont typeface="Calibri"/>
              <a:buNone/>
            </a:pPr>
            <a:r>
              <a:rPr b="0" i="0" lang="en-US" sz="2100" u="none" cap="none" strike="noStrike">
                <a:solidFill>
                  <a:srgbClr val="CFE8E4"/>
                </a:solidFill>
                <a:latin typeface="Calibri"/>
                <a:ea typeface="Calibri"/>
                <a:cs typeface="Calibri"/>
                <a:sym typeface="Calibri"/>
              </a:rPr>
              <a:t>even from generators it has never seen?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2766060" y="4846320"/>
            <a:ext cx="566928" cy="566928"/>
          </a:xfrm>
          <a:prstGeom prst="roundRect">
            <a:avLst>
              <a:gd fmla="val 12903" name="adj"/>
            </a:avLst>
          </a:prstGeom>
          <a:solidFill>
            <a:srgbClr val="1A7F3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1"/>
          <p:cNvSpPr/>
          <p:nvPr/>
        </p:nvSpPr>
        <p:spPr>
          <a:xfrm>
            <a:off x="2766060" y="4846320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3442716" y="4846320"/>
            <a:ext cx="566928" cy="566928"/>
          </a:xfrm>
          <a:prstGeom prst="roundRect">
            <a:avLst>
              <a:gd fmla="val 12903" name="adj"/>
            </a:avLst>
          </a:prstGeom>
          <a:solidFill>
            <a:srgbClr val="C154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1"/>
          <p:cNvSpPr/>
          <p:nvPr/>
        </p:nvSpPr>
        <p:spPr>
          <a:xfrm>
            <a:off x="3442716" y="4846320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4119372" y="4846320"/>
            <a:ext cx="566928" cy="566928"/>
          </a:xfrm>
          <a:prstGeom prst="roundRect">
            <a:avLst>
              <a:gd fmla="val 12903" name="adj"/>
            </a:avLst>
          </a:prstGeom>
          <a:solidFill>
            <a:srgbClr val="C154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1"/>
          <p:cNvSpPr/>
          <p:nvPr/>
        </p:nvSpPr>
        <p:spPr>
          <a:xfrm>
            <a:off x="4119372" y="4846320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4796028" y="4846320"/>
            <a:ext cx="566928" cy="566928"/>
          </a:xfrm>
          <a:prstGeom prst="roundRect">
            <a:avLst>
              <a:gd fmla="val 12903" name="adj"/>
            </a:avLst>
          </a:prstGeom>
          <a:solidFill>
            <a:srgbClr val="1A7F3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1"/>
          <p:cNvSpPr/>
          <p:nvPr/>
        </p:nvSpPr>
        <p:spPr>
          <a:xfrm>
            <a:off x="4796028" y="4846320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5472684" y="4846320"/>
            <a:ext cx="566928" cy="566928"/>
          </a:xfrm>
          <a:prstGeom prst="roundRect">
            <a:avLst>
              <a:gd fmla="val 12903" name="adj"/>
            </a:avLst>
          </a:prstGeom>
          <a:solidFill>
            <a:srgbClr val="C154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1"/>
          <p:cNvSpPr/>
          <p:nvPr/>
        </p:nvSpPr>
        <p:spPr>
          <a:xfrm>
            <a:off x="5472684" y="4846320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1"/>
          <p:cNvSpPr/>
          <p:nvPr/>
        </p:nvSpPr>
        <p:spPr>
          <a:xfrm>
            <a:off x="6149340" y="4846320"/>
            <a:ext cx="566928" cy="566928"/>
          </a:xfrm>
          <a:prstGeom prst="roundRect">
            <a:avLst>
              <a:gd fmla="val 12903" name="adj"/>
            </a:avLst>
          </a:prstGeom>
          <a:solidFill>
            <a:srgbClr val="1A7F3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1"/>
          <p:cNvSpPr/>
          <p:nvPr/>
        </p:nvSpPr>
        <p:spPr>
          <a:xfrm>
            <a:off x="6149340" y="4846320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1"/>
          <p:cNvSpPr/>
          <p:nvPr/>
        </p:nvSpPr>
        <p:spPr>
          <a:xfrm>
            <a:off x="6825996" y="4846320"/>
            <a:ext cx="566928" cy="566928"/>
          </a:xfrm>
          <a:prstGeom prst="roundRect">
            <a:avLst>
              <a:gd fmla="val 12903" name="adj"/>
            </a:avLst>
          </a:prstGeom>
          <a:solidFill>
            <a:srgbClr val="C154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1"/>
          <p:cNvSpPr/>
          <p:nvPr/>
        </p:nvSpPr>
        <p:spPr>
          <a:xfrm>
            <a:off x="6825996" y="4846320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1"/>
          <p:cNvSpPr/>
          <p:nvPr/>
        </p:nvSpPr>
        <p:spPr>
          <a:xfrm>
            <a:off x="7502652" y="4846320"/>
            <a:ext cx="566928" cy="566928"/>
          </a:xfrm>
          <a:prstGeom prst="roundRect">
            <a:avLst>
              <a:gd fmla="val 12903" name="adj"/>
            </a:avLst>
          </a:prstGeom>
          <a:solidFill>
            <a:srgbClr val="1A7F3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1"/>
          <p:cNvSpPr/>
          <p:nvPr/>
        </p:nvSpPr>
        <p:spPr>
          <a:xfrm>
            <a:off x="7502652" y="4846320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1"/>
          <p:cNvSpPr/>
          <p:nvPr/>
        </p:nvSpPr>
        <p:spPr>
          <a:xfrm>
            <a:off x="8179308" y="4846320"/>
            <a:ext cx="566928" cy="566928"/>
          </a:xfrm>
          <a:prstGeom prst="roundRect">
            <a:avLst>
              <a:gd fmla="val 12903" name="adj"/>
            </a:avLst>
          </a:prstGeom>
          <a:solidFill>
            <a:srgbClr val="C154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1"/>
          <p:cNvSpPr/>
          <p:nvPr/>
        </p:nvSpPr>
        <p:spPr>
          <a:xfrm>
            <a:off x="8179308" y="4846320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1"/>
          <p:cNvSpPr/>
          <p:nvPr/>
        </p:nvSpPr>
        <p:spPr>
          <a:xfrm>
            <a:off x="8855964" y="4846320"/>
            <a:ext cx="566928" cy="566928"/>
          </a:xfrm>
          <a:prstGeom prst="roundRect">
            <a:avLst>
              <a:gd fmla="val 12903" name="adj"/>
            </a:avLst>
          </a:prstGeom>
          <a:solidFill>
            <a:srgbClr val="1A7F3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1"/>
          <p:cNvSpPr/>
          <p:nvPr/>
        </p:nvSpPr>
        <p:spPr>
          <a:xfrm>
            <a:off x="8855964" y="4846320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1"/>
          <p:cNvSpPr/>
          <p:nvPr/>
        </p:nvSpPr>
        <p:spPr>
          <a:xfrm>
            <a:off x="457200" y="5577840"/>
            <a:ext cx="1127455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FA0AE"/>
              </a:buClr>
              <a:buSzPts val="1250"/>
              <a:buFont typeface="Calibri"/>
              <a:buNone/>
            </a:pPr>
            <a:r>
              <a:rPr b="0" i="1" lang="en-US" sz="1250" u="none" cap="none" strike="noStrike">
                <a:solidFill>
                  <a:srgbClr val="8FA0AE"/>
                </a:solidFill>
                <a:latin typeface="Calibri"/>
                <a:ea typeface="Calibri"/>
                <a:cs typeface="Calibri"/>
                <a:sym typeface="Calibri"/>
              </a:rPr>
              <a:t>Real vs. AI-generated — the classification game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1"/>
          <p:cNvSpPr/>
          <p:nvPr/>
        </p:nvSpPr>
        <p:spPr>
          <a:xfrm>
            <a:off x="457200" y="6053328"/>
            <a:ext cx="1127455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Liev Wurtzel   ·   July 2026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"/>
          <p:cNvSpPr/>
          <p:nvPr/>
        </p:nvSpPr>
        <p:spPr>
          <a:xfrm>
            <a:off x="566928" y="603504"/>
            <a:ext cx="128016" cy="128016"/>
          </a:xfrm>
          <a:prstGeom prst="ellipse">
            <a:avLst/>
          </a:prstGeom>
          <a:solidFill>
            <a:srgbClr val="0E938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2"/>
          <p:cNvSpPr/>
          <p:nvPr/>
        </p:nvSpPr>
        <p:spPr>
          <a:xfrm>
            <a:off x="777240" y="457200"/>
            <a:ext cx="10515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9384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E9384"/>
                </a:solidFill>
                <a:latin typeface="Calibri"/>
                <a:ea typeface="Calibri"/>
                <a:cs typeface="Calibri"/>
                <a:sym typeface="Calibri"/>
              </a:rPr>
              <a:t>THE PROBLEM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548640" y="786384"/>
            <a:ext cx="110642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14213D"/>
                </a:solidFill>
                <a:latin typeface="Cambria"/>
                <a:ea typeface="Cambria"/>
                <a:cs typeface="Cambria"/>
                <a:sym typeface="Cambria"/>
              </a:rPr>
              <a:t>Telling real from AI is getting harder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640080" y="2057400"/>
            <a:ext cx="649224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F4A5A"/>
              </a:buClr>
              <a:buSzPts val="1900"/>
              <a:buFont typeface="Calibri"/>
              <a:buChar char="•"/>
            </a:pPr>
            <a:r>
              <a:rPr b="0" i="0" lang="en-US" sz="1900" u="none" cap="none" strike="noStrike">
                <a:solidFill>
                  <a:srgbClr val="3F4A5A"/>
                </a:solidFill>
                <a:latin typeface="Calibri"/>
                <a:ea typeface="Calibri"/>
                <a:cs typeface="Calibri"/>
                <a:sym typeface="Calibri"/>
              </a:rPr>
              <a:t>Modern generators — Stable Diffusion, Midjourney, DALL·E — make images most people can't flag by eye.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rgbClr val="3F4A5A"/>
              </a:buClr>
              <a:buSzPts val="1900"/>
              <a:buFont typeface="Calibri"/>
              <a:buChar char="•"/>
            </a:pPr>
            <a:r>
              <a:rPr b="0" i="0" lang="en-US" sz="1900" u="none" cap="none" strike="noStrike">
                <a:solidFill>
                  <a:srgbClr val="3F4A5A"/>
                </a:solidFill>
                <a:latin typeface="Calibri"/>
                <a:ea typeface="Calibri"/>
                <a:cs typeface="Calibri"/>
                <a:sym typeface="Calibri"/>
              </a:rPr>
              <a:t>New generators appear constantly. A detector is only useful if it works on ones it was never trained on.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rgbClr val="3F4A5A"/>
              </a:buClr>
              <a:buSzPts val="1900"/>
              <a:buFont typeface="Calibri"/>
              <a:buChar char="•"/>
            </a:pPr>
            <a:r>
              <a:rPr b="0" i="0" lang="en-US" sz="1900" u="none" cap="none" strike="noStrike">
                <a:solidFill>
                  <a:srgbClr val="3F4A5A"/>
                </a:solidFill>
                <a:latin typeface="Calibri"/>
                <a:ea typeface="Calibri"/>
                <a:cs typeface="Calibri"/>
                <a:sym typeface="Calibri"/>
              </a:rPr>
              <a:t>So: does a CNN trained to catch one generator's fakes generalize to the rest?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7772400" y="2194560"/>
            <a:ext cx="3657600" cy="1371600"/>
          </a:xfrm>
          <a:prstGeom prst="roundRect">
            <a:avLst>
              <a:gd fmla="val 6667" name="adj"/>
            </a:avLst>
          </a:prstGeom>
          <a:solidFill>
            <a:srgbClr val="F4F7F9"/>
          </a:solidFill>
          <a:ln cap="flat" cmpd="sng" w="25400">
            <a:solidFill>
              <a:srgbClr val="1A7F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2"/>
          <p:cNvSpPr/>
          <p:nvPr/>
        </p:nvSpPr>
        <p:spPr>
          <a:xfrm>
            <a:off x="7772400" y="2395728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7F37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1A7F37"/>
                </a:solidFill>
                <a:latin typeface="Calibri"/>
                <a:ea typeface="Calibri"/>
                <a:cs typeface="Calibri"/>
                <a:sym typeface="Calibri"/>
              </a:rPr>
              <a:t>REAL PHOTO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7772400" y="2907792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8699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7A8699"/>
                </a:solidFill>
                <a:latin typeface="Calibri"/>
                <a:ea typeface="Calibri"/>
                <a:cs typeface="Calibri"/>
                <a:sym typeface="Calibri"/>
              </a:rPr>
              <a:t>captured by a camera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7772400" y="3749040"/>
            <a:ext cx="3657600" cy="1371600"/>
          </a:xfrm>
          <a:prstGeom prst="roundRect">
            <a:avLst>
              <a:gd fmla="val 6667" name="adj"/>
            </a:avLst>
          </a:prstGeom>
          <a:solidFill>
            <a:srgbClr val="F4F7F9"/>
          </a:solidFill>
          <a:ln cap="flat" cmpd="sng" w="25400">
            <a:solidFill>
              <a:srgbClr val="C154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2"/>
          <p:cNvSpPr/>
          <p:nvPr/>
        </p:nvSpPr>
        <p:spPr>
          <a:xfrm>
            <a:off x="7772400" y="3950208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1544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C1544F"/>
                </a:solidFill>
                <a:latin typeface="Calibri"/>
                <a:ea typeface="Calibri"/>
                <a:cs typeface="Calibri"/>
                <a:sym typeface="Calibri"/>
              </a:rPr>
              <a:t>AI-GENERATED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7772400" y="4462272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8699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7A8699"/>
                </a:solidFill>
                <a:latin typeface="Calibri"/>
                <a:ea typeface="Calibri"/>
                <a:cs typeface="Calibri"/>
                <a:sym typeface="Calibri"/>
              </a:rPr>
              <a:t>diffusion / GAN model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7772400" y="5285232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450"/>
              <a:buFont typeface="Calibri"/>
              <a:buNone/>
            </a:pPr>
            <a:r>
              <a:rPr b="1" i="1" lang="en-US" sz="1450" u="none" cap="none" strike="noStrike">
                <a:solidFill>
                  <a:srgbClr val="14213D"/>
                </a:solidFill>
                <a:latin typeface="Calibri"/>
                <a:ea typeface="Calibri"/>
                <a:cs typeface="Calibri"/>
                <a:sym typeface="Calibri"/>
              </a:rPr>
              <a:t>the model must decide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"/>
          <p:cNvSpPr/>
          <p:nvPr/>
        </p:nvSpPr>
        <p:spPr>
          <a:xfrm>
            <a:off x="566928" y="603504"/>
            <a:ext cx="128016" cy="128016"/>
          </a:xfrm>
          <a:prstGeom prst="ellipse">
            <a:avLst/>
          </a:prstGeom>
          <a:solidFill>
            <a:srgbClr val="0E938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3"/>
          <p:cNvSpPr/>
          <p:nvPr/>
        </p:nvSpPr>
        <p:spPr>
          <a:xfrm>
            <a:off x="777240" y="457200"/>
            <a:ext cx="10515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9384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E9384"/>
                </a:solidFill>
                <a:latin typeface="Calibri"/>
                <a:ea typeface="Calibri"/>
                <a:cs typeface="Calibri"/>
                <a:sym typeface="Calibri"/>
              </a:rPr>
              <a:t>ACT 1 · A DETECTOR THAT WORKS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548640" y="786384"/>
            <a:ext cx="110642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14213D"/>
                </a:solidFill>
                <a:latin typeface="Cambria"/>
                <a:ea typeface="Cambria"/>
                <a:cs typeface="Cambria"/>
                <a:sym typeface="Cambria"/>
              </a:rPr>
              <a:t>Train on one generator, and it nails it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640080" y="2148840"/>
            <a:ext cx="6035040" cy="2651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F4A5A"/>
              </a:buClr>
              <a:buSzPts val="1900"/>
              <a:buFont typeface="Calibri"/>
              <a:buChar char="•"/>
            </a:pPr>
            <a:r>
              <a:rPr b="0" i="0" lang="en-US" sz="1900" u="none" cap="none" strike="noStrike">
                <a:solidFill>
                  <a:srgbClr val="3F4A5A"/>
                </a:solidFill>
                <a:latin typeface="Calibri"/>
                <a:ea typeface="Calibri"/>
                <a:cs typeface="Calibri"/>
                <a:sym typeface="Calibri"/>
              </a:rPr>
              <a:t>Dataset — CIFAKE: 60k real (CIFAR-10) + 60k fakes from Stable Diffusion 1.4, at 32×32.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F4A5A"/>
              </a:buClr>
              <a:buSzPts val="1900"/>
              <a:buFont typeface="Calibri"/>
              <a:buChar char="•"/>
            </a:pPr>
            <a:r>
              <a:rPr b="0" i="0" lang="en-US" sz="1900" u="none" cap="none" strike="noStrike">
                <a:solidFill>
                  <a:srgbClr val="3F4A5A"/>
                </a:solidFill>
                <a:latin typeface="Calibri"/>
                <a:ea typeface="Calibri"/>
                <a:cs typeface="Calibri"/>
                <a:sym typeface="Calibri"/>
              </a:rPr>
              <a:t>Model — a convolutional neural network, trained from scratch.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F4A5A"/>
              </a:buClr>
              <a:buSzPts val="1900"/>
              <a:buFont typeface="Calibri"/>
              <a:buChar char="•"/>
            </a:pPr>
            <a:r>
              <a:rPr b="0" i="0" lang="en-US" sz="1900" u="none" cap="none" strike="noStrike">
                <a:solidFill>
                  <a:srgbClr val="3F4A5A"/>
                </a:solidFill>
                <a:latin typeface="Calibri"/>
                <a:ea typeface="Calibri"/>
                <a:cs typeface="Calibri"/>
                <a:sym typeface="Calibri"/>
              </a:rPr>
              <a:t>Held-out test accuracy: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640080" y="5074920"/>
            <a:ext cx="6035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9384"/>
              </a:buClr>
              <a:buSzPts val="2100"/>
              <a:buFont typeface="Cambria"/>
              <a:buNone/>
            </a:pPr>
            <a:r>
              <a:rPr b="1" i="1" lang="en-US" sz="2100" u="none" cap="none" strike="noStrike">
                <a:solidFill>
                  <a:srgbClr val="0E9384"/>
                </a:solidFill>
                <a:latin typeface="Cambria"/>
                <a:ea typeface="Cambria"/>
                <a:cs typeface="Cambria"/>
                <a:sym typeface="Cambria"/>
              </a:rPr>
              <a:t>Looks solved — right?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6949440" y="1965960"/>
            <a:ext cx="466344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9384"/>
              </a:buClr>
              <a:buSzPts val="15000"/>
              <a:buFont typeface="Cambria"/>
              <a:buNone/>
            </a:pPr>
            <a:r>
              <a:rPr b="1" i="0" lang="en-US" sz="15000" u="none" cap="none" strike="noStrike">
                <a:solidFill>
                  <a:srgbClr val="0E9384"/>
                </a:solidFill>
                <a:latin typeface="Cambria"/>
                <a:ea typeface="Cambria"/>
                <a:cs typeface="Cambria"/>
                <a:sym typeface="Cambria"/>
              </a:rPr>
              <a:t>95%</a:t>
            </a:r>
            <a:endParaRPr b="0" i="0" sz="15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6949440" y="4160520"/>
            <a:ext cx="4663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14213D"/>
                </a:solidFill>
                <a:latin typeface="Calibri"/>
                <a:ea typeface="Calibri"/>
                <a:cs typeface="Calibri"/>
                <a:sym typeface="Calibri"/>
              </a:rPr>
              <a:t>accuracy on held-out CIFAKE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6949440" y="4681728"/>
            <a:ext cx="4663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8699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7A8699"/>
                </a:solidFill>
                <a:latin typeface="Calibri"/>
                <a:ea typeface="Calibri"/>
                <a:cs typeface="Calibri"/>
                <a:sym typeface="Calibri"/>
              </a:rPr>
              <a:t>Stable Diffusion 1.4  ·  a single generator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"/>
          <p:cNvSpPr/>
          <p:nvPr/>
        </p:nvSpPr>
        <p:spPr>
          <a:xfrm>
            <a:off x="566928" y="603504"/>
            <a:ext cx="128016" cy="128016"/>
          </a:xfrm>
          <a:prstGeom prst="ellipse">
            <a:avLst/>
          </a:prstGeom>
          <a:solidFill>
            <a:srgbClr val="0E938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4"/>
          <p:cNvSpPr/>
          <p:nvPr/>
        </p:nvSpPr>
        <p:spPr>
          <a:xfrm>
            <a:off x="777240" y="457200"/>
            <a:ext cx="10515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9384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E9384"/>
                </a:solidFill>
                <a:latin typeface="Calibri"/>
                <a:ea typeface="Calibri"/>
                <a:cs typeface="Calibri"/>
                <a:sym typeface="Calibri"/>
              </a:rPr>
              <a:t>ACT 1 · THE TWIST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4"/>
          <p:cNvSpPr/>
          <p:nvPr/>
        </p:nvSpPr>
        <p:spPr>
          <a:xfrm>
            <a:off x="548640" y="786384"/>
            <a:ext cx="110642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14213D"/>
                </a:solidFill>
                <a:latin typeface="Cambria"/>
                <a:ea typeface="Cambria"/>
                <a:cs typeface="Cambria"/>
                <a:sym typeface="Cambria"/>
              </a:rPr>
              <a:t>…until it meets a different generator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sessions/quirky-eloquent-babbage/mnt/outputs/deck_assets/cifake_to_genimage_collapse.png" id="78" name="Google Shape;78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" y="1783080"/>
            <a:ext cx="7315200" cy="3602736"/>
          </a:xfrm>
          <a:prstGeom prst="rect">
            <a:avLst/>
          </a:prstGeom>
          <a:noFill/>
          <a:ln>
            <a:noFill/>
          </a:ln>
          <a:effectLst>
            <a:outerShdw blurRad="114300" rotWithShape="0" algn="bl" dir="5400000" dist="38100">
              <a:srgbClr val="9AA7B4">
                <a:alpha val="30196"/>
              </a:srgbClr>
            </a:outerShdw>
          </a:effectLst>
        </p:spPr>
      </p:pic>
      <p:sp>
        <p:nvSpPr>
          <p:cNvPr id="79" name="Google Shape;79;p4"/>
          <p:cNvSpPr/>
          <p:nvPr/>
        </p:nvSpPr>
        <p:spPr>
          <a:xfrm>
            <a:off x="548640" y="5468112"/>
            <a:ext cx="7315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699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7A8699"/>
                </a:solidFill>
                <a:latin typeface="Calibri"/>
                <a:ea typeface="Calibri"/>
                <a:cs typeface="Calibri"/>
                <a:sym typeface="Calibri"/>
              </a:rPr>
              <a:t>The CIFAKE-trained detector, tested on each GenImage generator it never saw.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4"/>
          <p:cNvSpPr/>
          <p:nvPr/>
        </p:nvSpPr>
        <p:spPr>
          <a:xfrm>
            <a:off x="8092440" y="2011680"/>
            <a:ext cx="3566160" cy="3063240"/>
          </a:xfrm>
          <a:prstGeom prst="roundRect">
            <a:avLst>
              <a:gd fmla="val 2985" name="adj"/>
            </a:avLst>
          </a:prstGeom>
          <a:solidFill>
            <a:srgbClr val="F4F7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4"/>
          <p:cNvSpPr/>
          <p:nvPr/>
        </p:nvSpPr>
        <p:spPr>
          <a:xfrm>
            <a:off x="8183880" y="2212848"/>
            <a:ext cx="33832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7F37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1A7F37"/>
                </a:solidFill>
                <a:latin typeface="Cambria"/>
                <a:ea typeface="Cambria"/>
                <a:cs typeface="Cambria"/>
                <a:sym typeface="Cambria"/>
              </a:rPr>
              <a:t>95% </a:t>
            </a:r>
            <a:r>
              <a:rPr b="0" i="0" lang="en-US" sz="2600" u="none" cap="none" strike="noStrike">
                <a:solidFill>
                  <a:srgbClr val="7A8699"/>
                </a:solidFill>
                <a:latin typeface="Cambria"/>
                <a:ea typeface="Cambria"/>
                <a:cs typeface="Cambria"/>
                <a:sym typeface="Cambria"/>
              </a:rPr>
              <a:t> → </a:t>
            </a:r>
            <a:r>
              <a:rPr b="1" i="0" lang="en-US" sz="3400" u="none" cap="none" strike="noStrike">
                <a:solidFill>
                  <a:srgbClr val="C1544F"/>
                </a:solidFill>
                <a:latin typeface="Cambria"/>
                <a:ea typeface="Cambria"/>
                <a:cs typeface="Cambria"/>
                <a:sym typeface="Cambria"/>
              </a:rPr>
              <a:t> 46%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4"/>
          <p:cNvSpPr/>
          <p:nvPr/>
        </p:nvSpPr>
        <p:spPr>
          <a:xfrm>
            <a:off x="8275320" y="3063240"/>
            <a:ext cx="3200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F4A5A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3F4A5A"/>
                </a:solidFill>
                <a:latin typeface="Calibri"/>
                <a:ea typeface="Calibri"/>
                <a:cs typeface="Calibri"/>
                <a:sym typeface="Calibri"/>
              </a:rPr>
              <a:t>On 7 unseen generators, accuracy falls to chance (~50%) or below.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4"/>
          <p:cNvSpPr/>
          <p:nvPr/>
        </p:nvSpPr>
        <p:spPr>
          <a:xfrm>
            <a:off x="8275320" y="4114800"/>
            <a:ext cx="32004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600"/>
              <a:buFont typeface="Calibri"/>
              <a:buNone/>
            </a:pPr>
            <a:r>
              <a:rPr b="1" i="1" lang="en-US" sz="1600" u="none" cap="none" strike="noStrike">
                <a:solidFill>
                  <a:srgbClr val="14213D"/>
                </a:solidFill>
                <a:latin typeface="Calibri"/>
                <a:ea typeface="Calibri"/>
                <a:cs typeface="Calibri"/>
                <a:sym typeface="Calibri"/>
              </a:rPr>
              <a:t>It learned SD-1.4's fingerprint — not “AI-ness.”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5"/>
          <p:cNvSpPr/>
          <p:nvPr/>
        </p:nvSpPr>
        <p:spPr>
          <a:xfrm>
            <a:off x="566928" y="603504"/>
            <a:ext cx="128016" cy="128016"/>
          </a:xfrm>
          <a:prstGeom prst="ellipse">
            <a:avLst/>
          </a:prstGeom>
          <a:solidFill>
            <a:srgbClr val="0E938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5"/>
          <p:cNvSpPr/>
          <p:nvPr/>
        </p:nvSpPr>
        <p:spPr>
          <a:xfrm>
            <a:off x="777240" y="457200"/>
            <a:ext cx="10515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9384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E9384"/>
                </a:solidFill>
                <a:latin typeface="Calibri"/>
                <a:ea typeface="Calibri"/>
                <a:cs typeface="Calibri"/>
                <a:sym typeface="Calibri"/>
              </a:rPr>
              <a:t>ACT 2 · A STRONGER MODEL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5"/>
          <p:cNvSpPr/>
          <p:nvPr/>
        </p:nvSpPr>
        <p:spPr>
          <a:xfrm>
            <a:off x="548640" y="786384"/>
            <a:ext cx="110642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14213D"/>
                </a:solidFill>
                <a:latin typeface="Cambria"/>
                <a:ea typeface="Cambria"/>
                <a:cs typeface="Cambria"/>
                <a:sym typeface="Cambria"/>
              </a:rPr>
              <a:t>Scaling up: train across many generators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5"/>
          <p:cNvSpPr/>
          <p:nvPr/>
        </p:nvSpPr>
        <p:spPr>
          <a:xfrm>
            <a:off x="658368" y="2203704"/>
            <a:ext cx="182880" cy="182880"/>
          </a:xfrm>
          <a:prstGeom prst="ellipse">
            <a:avLst/>
          </a:prstGeom>
          <a:solidFill>
            <a:srgbClr val="1A7F3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5"/>
          <p:cNvSpPr/>
          <p:nvPr/>
        </p:nvSpPr>
        <p:spPr>
          <a:xfrm>
            <a:off x="960120" y="2103120"/>
            <a:ext cx="5760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7F37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A7F37"/>
                </a:solidFill>
                <a:latin typeface="Calibri"/>
                <a:ea typeface="Calibri"/>
                <a:cs typeface="Calibri"/>
                <a:sym typeface="Calibri"/>
              </a:rPr>
              <a:t>DATASET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5"/>
          <p:cNvSpPr/>
          <p:nvPr/>
        </p:nvSpPr>
        <p:spPr>
          <a:xfrm>
            <a:off x="960120" y="2459736"/>
            <a:ext cx="6035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3F4A5A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3F4A5A"/>
                </a:solidFill>
                <a:latin typeface="Calibri"/>
                <a:ea typeface="Calibri"/>
                <a:cs typeface="Calibri"/>
                <a:sym typeface="Calibri"/>
              </a:rPr>
              <a:t>GenImage — 8 generators + real photos, at full 224px (not 32×32).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5"/>
          <p:cNvSpPr/>
          <p:nvPr/>
        </p:nvSpPr>
        <p:spPr>
          <a:xfrm>
            <a:off x="658368" y="3346704"/>
            <a:ext cx="182880" cy="182880"/>
          </a:xfrm>
          <a:prstGeom prst="ellipse">
            <a:avLst/>
          </a:prstGeom>
          <a:solidFill>
            <a:srgbClr val="0E938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5"/>
          <p:cNvSpPr/>
          <p:nvPr/>
        </p:nvSpPr>
        <p:spPr>
          <a:xfrm>
            <a:off x="960120" y="3246120"/>
            <a:ext cx="5760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9384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E9384"/>
                </a:solidFill>
                <a:latin typeface="Calibri"/>
                <a:ea typeface="Calibri"/>
                <a:cs typeface="Calibri"/>
                <a:sym typeface="Calibri"/>
              </a:rPr>
              <a:t>TRAINED 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5"/>
          <p:cNvSpPr/>
          <p:nvPr/>
        </p:nvSpPr>
        <p:spPr>
          <a:xfrm>
            <a:off x="960120" y="3602736"/>
            <a:ext cx="6035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3F4A5A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3F4A5A"/>
                </a:solidFill>
                <a:latin typeface="Calibri"/>
                <a:ea typeface="Calibri"/>
                <a:cs typeface="Calibri"/>
                <a:sym typeface="Calibri"/>
              </a:rPr>
              <a:t>ResNet50V2 transfer learning · 3 generators: SD 1.4, glide, BigGAN (★).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5"/>
          <p:cNvSpPr/>
          <p:nvPr/>
        </p:nvSpPr>
        <p:spPr>
          <a:xfrm>
            <a:off x="658368" y="4489704"/>
            <a:ext cx="182880" cy="182880"/>
          </a:xfrm>
          <a:prstGeom prst="ellipse">
            <a:avLst/>
          </a:prstGeom>
          <a:solidFill>
            <a:srgbClr val="C154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5"/>
          <p:cNvSpPr/>
          <p:nvPr/>
        </p:nvSpPr>
        <p:spPr>
          <a:xfrm>
            <a:off x="960120" y="4389120"/>
            <a:ext cx="5760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1544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C1544F"/>
                </a:solidFill>
                <a:latin typeface="Calibri"/>
                <a:ea typeface="Calibri"/>
                <a:cs typeface="Calibri"/>
                <a:sym typeface="Calibri"/>
              </a:rPr>
              <a:t>TESTED 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5"/>
          <p:cNvSpPr/>
          <p:nvPr/>
        </p:nvSpPr>
        <p:spPr>
          <a:xfrm>
            <a:off x="960120" y="4745736"/>
            <a:ext cx="6035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3F4A5A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3F4A5A"/>
                </a:solidFill>
                <a:latin typeface="Calibri"/>
                <a:ea typeface="Calibri"/>
                <a:cs typeface="Calibri"/>
                <a:sym typeface="Calibri"/>
              </a:rPr>
              <a:t>All 8 generators' held-out sets — including 5 it never trained on.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5"/>
          <p:cNvSpPr/>
          <p:nvPr/>
        </p:nvSpPr>
        <p:spPr>
          <a:xfrm>
            <a:off x="7452360" y="2148840"/>
            <a:ext cx="4069080" cy="3154680"/>
          </a:xfrm>
          <a:prstGeom prst="roundRect">
            <a:avLst>
              <a:gd fmla="val 3478" name="adj"/>
            </a:avLst>
          </a:prstGeom>
          <a:solidFill>
            <a:srgbClr val="F4F7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5"/>
          <p:cNvSpPr/>
          <p:nvPr/>
        </p:nvSpPr>
        <p:spPr>
          <a:xfrm>
            <a:off x="7452360" y="2423160"/>
            <a:ext cx="406908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9384"/>
              </a:buClr>
              <a:buSzPts val="9600"/>
              <a:buFont typeface="Cambria"/>
              <a:buNone/>
            </a:pPr>
            <a:r>
              <a:rPr b="1" i="0" lang="en-US" sz="9600" u="none" cap="none" strike="noStrike">
                <a:solidFill>
                  <a:srgbClr val="0E9384"/>
                </a:solidFill>
                <a:latin typeface="Cambria"/>
                <a:ea typeface="Cambria"/>
                <a:cs typeface="Cambria"/>
                <a:sym typeface="Cambria"/>
              </a:rPr>
              <a:t>79%</a:t>
            </a:r>
            <a:endParaRPr b="0" i="0" sz="9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5"/>
          <p:cNvSpPr/>
          <p:nvPr/>
        </p:nvSpPr>
        <p:spPr>
          <a:xfrm>
            <a:off x="7726680" y="3840480"/>
            <a:ext cx="35204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550"/>
              <a:buFont typeface="Calibri"/>
              <a:buNone/>
            </a:pPr>
            <a:r>
              <a:rPr b="1" i="0" lang="en-US" sz="1550" u="none" cap="none" strike="noStrike">
                <a:solidFill>
                  <a:srgbClr val="14213D"/>
                </a:solidFill>
                <a:latin typeface="Calibri"/>
                <a:ea typeface="Calibri"/>
                <a:cs typeface="Calibri"/>
                <a:sym typeface="Calibri"/>
              </a:rPr>
              <a:t>average accuracy across all 8 generators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5"/>
          <p:cNvSpPr/>
          <p:nvPr/>
        </p:nvSpPr>
        <p:spPr>
          <a:xfrm>
            <a:off x="7726680" y="4572000"/>
            <a:ext cx="35204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8699"/>
              </a:buClr>
              <a:buSzPts val="1350"/>
              <a:buFont typeface="Calibri"/>
              <a:buNone/>
            </a:pPr>
            <a:r>
              <a:rPr b="0" i="1" lang="en-US" sz="1350" u="none" cap="none" strike="noStrike">
                <a:solidFill>
                  <a:srgbClr val="7A8699"/>
                </a:solidFill>
                <a:latin typeface="Calibri"/>
                <a:ea typeface="Calibri"/>
                <a:cs typeface="Calibri"/>
                <a:sym typeface="Calibri"/>
              </a:rPr>
              <a:t>up from 46% for the single-generator model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5"/>
          <p:cNvSpPr/>
          <p:nvPr/>
        </p:nvSpPr>
        <p:spPr>
          <a:xfrm>
            <a:off x="658368" y="5669280"/>
            <a:ext cx="6400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9384"/>
              </a:buClr>
              <a:buSzPts val="1450"/>
              <a:buFont typeface="Calibri"/>
              <a:buNone/>
            </a:pPr>
            <a:r>
              <a:rPr b="1" i="1" lang="en-US" sz="1450" u="none" cap="none" strike="noStrike">
                <a:solidFill>
                  <a:srgbClr val="0E9384"/>
                </a:solidFill>
                <a:latin typeface="Calibri"/>
                <a:ea typeface="Calibri"/>
                <a:cs typeface="Calibri"/>
                <a:sym typeface="Calibri"/>
              </a:rPr>
              <a:t>Next: how it does generator by generator →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6"/>
          <p:cNvSpPr/>
          <p:nvPr/>
        </p:nvSpPr>
        <p:spPr>
          <a:xfrm>
            <a:off x="566928" y="603504"/>
            <a:ext cx="128016" cy="128016"/>
          </a:xfrm>
          <a:prstGeom prst="ellipse">
            <a:avLst/>
          </a:prstGeom>
          <a:solidFill>
            <a:srgbClr val="0E938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6"/>
          <p:cNvSpPr/>
          <p:nvPr/>
        </p:nvSpPr>
        <p:spPr>
          <a:xfrm>
            <a:off x="777240" y="457200"/>
            <a:ext cx="10515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9384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E9384"/>
                </a:solidFill>
                <a:latin typeface="Calibri"/>
                <a:ea typeface="Calibri"/>
                <a:cs typeface="Calibri"/>
                <a:sym typeface="Calibri"/>
              </a:rPr>
              <a:t>ACT 2 · TRAIN ACROSS GENERATORS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6"/>
          <p:cNvSpPr/>
          <p:nvPr/>
        </p:nvSpPr>
        <p:spPr>
          <a:xfrm>
            <a:off x="548640" y="786384"/>
            <a:ext cx="110642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14213D"/>
                </a:solidFill>
                <a:latin typeface="Cambria"/>
                <a:ea typeface="Cambria"/>
                <a:cs typeface="Cambria"/>
                <a:sym typeface="Cambria"/>
              </a:rPr>
              <a:t>More generators → better generalization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6"/>
          <p:cNvSpPr/>
          <p:nvPr/>
        </p:nvSpPr>
        <p:spPr>
          <a:xfrm>
            <a:off x="640080" y="1572768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1544F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C1544F"/>
                </a:solidFill>
                <a:latin typeface="Calibri"/>
                <a:ea typeface="Calibri"/>
                <a:cs typeface="Calibri"/>
                <a:sym typeface="Calibri"/>
              </a:rPr>
              <a:t>■</a:t>
            </a:r>
            <a:r>
              <a:rPr b="0" i="0" lang="en-US" sz="1450" u="none" cap="none" strike="noStrike">
                <a:solidFill>
                  <a:srgbClr val="3F4A5A"/>
                </a:solidFill>
                <a:latin typeface="Calibri"/>
                <a:ea typeface="Calibri"/>
                <a:cs typeface="Calibri"/>
                <a:sym typeface="Calibri"/>
              </a:rPr>
              <a:t>  single-generator model        </a:t>
            </a:r>
            <a:r>
              <a:rPr b="0" i="0" lang="en-US" sz="1450" u="none" cap="none" strike="noStrike">
                <a:solidFill>
                  <a:srgbClr val="1A7F37"/>
                </a:solidFill>
                <a:latin typeface="Calibri"/>
                <a:ea typeface="Calibri"/>
                <a:cs typeface="Calibri"/>
                <a:sym typeface="Calibri"/>
              </a:rPr>
              <a:t>■</a:t>
            </a:r>
            <a:r>
              <a:rPr b="0" i="0" lang="en-US" sz="1450" u="none" cap="none" strike="noStrike">
                <a:solidFill>
                  <a:srgbClr val="3F4A5A"/>
                </a:solidFill>
                <a:latin typeface="Calibri"/>
                <a:ea typeface="Calibri"/>
                <a:cs typeface="Calibri"/>
                <a:sym typeface="Calibri"/>
              </a:rPr>
              <a:t>  multi-generator model        </a:t>
            </a:r>
            <a:r>
              <a:rPr b="0" i="0" lang="en-US" sz="1450" u="none" cap="none" strike="noStrike">
                <a:solidFill>
                  <a:srgbClr val="14213D"/>
                </a:solidFill>
                <a:latin typeface="Calibri"/>
                <a:ea typeface="Calibri"/>
                <a:cs typeface="Calibri"/>
                <a:sym typeface="Calibri"/>
              </a:rPr>
              <a:t>★</a:t>
            </a:r>
            <a:r>
              <a:rPr b="0" i="0" lang="en-US" sz="1450" u="none" cap="none" strike="noStrike">
                <a:solidFill>
                  <a:srgbClr val="3F4A5A"/>
                </a:solidFill>
                <a:latin typeface="Calibri"/>
                <a:ea typeface="Calibri"/>
                <a:cs typeface="Calibri"/>
                <a:sym typeface="Calibri"/>
              </a:rPr>
              <a:t>  trained on this generator        </a:t>
            </a:r>
            <a:r>
              <a:rPr b="1" i="0" lang="en-US" sz="1450" u="none" cap="none" strike="noStrike">
                <a:solidFill>
                  <a:srgbClr val="7A8699"/>
                </a:solidFill>
                <a:latin typeface="Calibri"/>
                <a:ea typeface="Calibri"/>
                <a:cs typeface="Calibri"/>
                <a:sym typeface="Calibri"/>
              </a:rPr>
              <a:t>- - -</a:t>
            </a:r>
            <a:r>
              <a:rPr b="0" i="0" lang="en-US" sz="1450" u="none" cap="none" strike="noStrike">
                <a:solidFill>
                  <a:srgbClr val="3F4A5A"/>
                </a:solidFill>
                <a:latin typeface="Calibri"/>
                <a:ea typeface="Calibri"/>
                <a:cs typeface="Calibri"/>
                <a:sym typeface="Calibri"/>
              </a:rPr>
              <a:t>  50% chance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sessions/quirky-eloquent-babbage/mnt/outputs/deck_assets/cifake_vs_genimage_generalization.png" id="115" name="Google Shape;115;p6"/>
          <p:cNvPicPr preferRelativeResize="0"/>
          <p:nvPr/>
        </p:nvPicPr>
        <p:blipFill rotWithShape="1">
          <a:blip r:embed="rId3">
            <a:alphaModFix/>
          </a:blip>
          <a:srcRect b="0" l="0" r="0" t="16311"/>
          <a:stretch/>
        </p:blipFill>
        <p:spPr>
          <a:xfrm>
            <a:off x="430613" y="2191300"/>
            <a:ext cx="11391724" cy="4099374"/>
          </a:xfrm>
          <a:prstGeom prst="rect">
            <a:avLst/>
          </a:prstGeom>
          <a:noFill/>
          <a:ln>
            <a:noFill/>
          </a:ln>
          <a:effectLst>
            <a:outerShdw blurRad="114300" rotWithShape="0" algn="bl" dir="5400000" dist="38100">
              <a:srgbClr val="9AA7B4">
                <a:alpha val="30200"/>
              </a:srgbClr>
            </a:outerShdw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7"/>
          <p:cNvSpPr/>
          <p:nvPr/>
        </p:nvSpPr>
        <p:spPr>
          <a:xfrm>
            <a:off x="566928" y="603504"/>
            <a:ext cx="128016" cy="128016"/>
          </a:xfrm>
          <a:prstGeom prst="ellipse">
            <a:avLst/>
          </a:prstGeom>
          <a:solidFill>
            <a:srgbClr val="0E938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7"/>
          <p:cNvSpPr/>
          <p:nvPr/>
        </p:nvSpPr>
        <p:spPr>
          <a:xfrm>
            <a:off x="777240" y="457200"/>
            <a:ext cx="10515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9384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E9384"/>
                </a:solidFill>
                <a:latin typeface="Calibri"/>
                <a:ea typeface="Calibri"/>
                <a:cs typeface="Calibri"/>
                <a:sym typeface="Calibri"/>
              </a:rPr>
              <a:t>ACT 3 · HOW IT FAILS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7"/>
          <p:cNvSpPr/>
          <p:nvPr/>
        </p:nvSpPr>
        <p:spPr>
          <a:xfrm>
            <a:off x="548640" y="786384"/>
            <a:ext cx="110642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14213D"/>
                </a:solidFill>
                <a:latin typeface="Cambria"/>
                <a:ea typeface="Cambria"/>
                <a:cs typeface="Cambria"/>
                <a:sym typeface="Cambria"/>
              </a:rPr>
              <a:t>It doesn't guess — it defaults to “real”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7"/>
          <p:cNvSpPr/>
          <p:nvPr/>
        </p:nvSpPr>
        <p:spPr>
          <a:xfrm>
            <a:off x="640080" y="155448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9384"/>
              </a:buClr>
              <a:buSzPts val="1750"/>
              <a:buFont typeface="Calibri"/>
              <a:buNone/>
            </a:pPr>
            <a:r>
              <a:rPr b="1" i="0" lang="en-US" sz="1750" u="none" cap="none" strike="noStrike">
                <a:solidFill>
                  <a:srgbClr val="0E9384"/>
                </a:solidFill>
                <a:latin typeface="Calibri"/>
                <a:ea typeface="Calibri"/>
                <a:cs typeface="Calibri"/>
                <a:sym typeface="Calibri"/>
              </a:rPr>
              <a:t>Cautious model: 96% correct on real photos, but it catches only ~61% of fakes.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sessions/quirky-eloquent-babbage/mnt/outputs/deck_assets/simple_confusion_matrix.png" id="125" name="Google Shape;125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240" y="2148840"/>
            <a:ext cx="4572000" cy="2971800"/>
          </a:xfrm>
          <a:prstGeom prst="rect">
            <a:avLst/>
          </a:prstGeom>
          <a:noFill/>
          <a:ln>
            <a:noFill/>
          </a:ln>
          <a:effectLst>
            <a:outerShdw blurRad="114300" rotWithShape="0" algn="bl" dir="5400000" dist="38100">
              <a:srgbClr val="9AA7B4">
                <a:alpha val="30196"/>
              </a:srgbClr>
            </a:outerShdw>
          </a:effectLst>
        </p:spPr>
      </p:pic>
      <p:sp>
        <p:nvSpPr>
          <p:cNvPr id="126" name="Google Shape;126;p7"/>
          <p:cNvSpPr/>
          <p:nvPr/>
        </p:nvSpPr>
        <p:spPr>
          <a:xfrm>
            <a:off x="777240" y="5212080"/>
            <a:ext cx="4572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699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7A8699"/>
                </a:solidFill>
                <a:latin typeface="Calibri"/>
                <a:ea typeface="Calibri"/>
                <a:cs typeface="Calibri"/>
                <a:sym typeface="Calibri"/>
              </a:rPr>
              <a:t>All 100k validation images: actual vs. predicted.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sessions/quirky-eloquent-babbage/mnt/outputs/deck_assets/source_breakdown.png" id="127" name="Google Shape;127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46520" y="1874520"/>
            <a:ext cx="3840480" cy="4123944"/>
          </a:xfrm>
          <a:prstGeom prst="rect">
            <a:avLst/>
          </a:prstGeom>
          <a:noFill/>
          <a:ln>
            <a:noFill/>
          </a:ln>
          <a:effectLst>
            <a:outerShdw blurRad="114300" rotWithShape="0" algn="bl" dir="5400000" dist="38100">
              <a:srgbClr val="9AA7B4">
                <a:alpha val="30196"/>
              </a:srgbClr>
            </a:outerShdw>
          </a:effectLst>
        </p:spPr>
      </p:pic>
      <p:sp>
        <p:nvSpPr>
          <p:cNvPr id="128" name="Google Shape;128;p7"/>
          <p:cNvSpPr/>
          <p:nvPr/>
        </p:nvSpPr>
        <p:spPr>
          <a:xfrm>
            <a:off x="5897880" y="6053328"/>
            <a:ext cx="51206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699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7A8699"/>
                </a:solidFill>
                <a:latin typeface="Calibri"/>
                <a:ea typeface="Calibri"/>
                <a:cs typeface="Calibri"/>
                <a:sym typeface="Calibri"/>
              </a:rPr>
              <a:t>Per generator — unseen fakes (ADM, VQDM, Midjourney) are called “real” ~70% of the time.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8"/>
          <p:cNvSpPr/>
          <p:nvPr/>
        </p:nvSpPr>
        <p:spPr>
          <a:xfrm>
            <a:off x="566928" y="603504"/>
            <a:ext cx="128016" cy="128016"/>
          </a:xfrm>
          <a:prstGeom prst="ellipse">
            <a:avLst/>
          </a:prstGeom>
          <a:solidFill>
            <a:srgbClr val="0E938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8"/>
          <p:cNvSpPr/>
          <p:nvPr/>
        </p:nvSpPr>
        <p:spPr>
          <a:xfrm>
            <a:off x="777240" y="457200"/>
            <a:ext cx="10515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9384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E9384"/>
                </a:solidFill>
                <a:latin typeface="Calibri"/>
                <a:ea typeface="Calibri"/>
                <a:cs typeface="Calibri"/>
                <a:sym typeface="Calibri"/>
              </a:rPr>
              <a:t>THE LEVER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8"/>
          <p:cNvSpPr/>
          <p:nvPr/>
        </p:nvSpPr>
        <p:spPr>
          <a:xfrm>
            <a:off x="548640" y="786384"/>
            <a:ext cx="110642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14213D"/>
                </a:solidFill>
                <a:latin typeface="Cambria"/>
                <a:ea typeface="Cambria"/>
                <a:cs typeface="Cambria"/>
                <a:sym typeface="Cambria"/>
              </a:rPr>
              <a:t>One knob: the decision threshold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sessions/quirky-eloquent-babbage/mnt/outputs/deck_assets/threshold_tradeoff.jpg" id="137" name="Google Shape;13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1783080"/>
            <a:ext cx="5760720" cy="4160520"/>
          </a:xfrm>
          <a:prstGeom prst="rect">
            <a:avLst/>
          </a:prstGeom>
          <a:noFill/>
          <a:ln>
            <a:noFill/>
          </a:ln>
          <a:effectLst>
            <a:outerShdw blurRad="114300" rotWithShape="0" algn="bl" dir="5400000" dist="38100">
              <a:srgbClr val="9AA7B4">
                <a:alpha val="30196"/>
              </a:srgbClr>
            </a:outerShdw>
          </a:effectLst>
        </p:spPr>
      </p:pic>
      <p:sp>
        <p:nvSpPr>
          <p:cNvPr id="138" name="Google Shape;138;p8"/>
          <p:cNvSpPr/>
          <p:nvPr/>
        </p:nvSpPr>
        <p:spPr>
          <a:xfrm>
            <a:off x="6720840" y="1828800"/>
            <a:ext cx="4892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14213D"/>
                </a:solidFill>
                <a:latin typeface="Cambria"/>
                <a:ea typeface="Cambria"/>
                <a:cs typeface="Cambria"/>
                <a:sym typeface="Cambria"/>
              </a:rPr>
              <a:t>The tradeoff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8"/>
          <p:cNvSpPr/>
          <p:nvPr/>
        </p:nvSpPr>
        <p:spPr>
          <a:xfrm>
            <a:off x="6720840" y="2395728"/>
            <a:ext cx="48920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F4A5A"/>
              </a:buClr>
              <a:buSzPts val="1700"/>
              <a:buFont typeface="Calibri"/>
              <a:buNone/>
            </a:pPr>
            <a:r>
              <a:rPr b="0" i="0" lang="en-US" sz="1700" u="none" cap="none" strike="noStrike">
                <a:solidFill>
                  <a:srgbClr val="3F4A5A"/>
                </a:solidFill>
                <a:latin typeface="Calibri"/>
                <a:ea typeface="Calibri"/>
                <a:cs typeface="Calibri"/>
                <a:sym typeface="Calibri"/>
              </a:rPr>
              <a:t>Because missed fakes get labeled “real,” raising the bar for “real” catches more of them — at a cost to real-photo accuracy.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8"/>
          <p:cNvSpPr/>
          <p:nvPr/>
        </p:nvSpPr>
        <p:spPr>
          <a:xfrm>
            <a:off x="6720840" y="3657600"/>
            <a:ext cx="4892040" cy="685800"/>
          </a:xfrm>
          <a:prstGeom prst="roundRect">
            <a:avLst>
              <a:gd fmla="val 10667" name="adj"/>
            </a:avLst>
          </a:prstGeom>
          <a:solidFill>
            <a:srgbClr val="F4F7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8"/>
          <p:cNvSpPr/>
          <p:nvPr/>
        </p:nvSpPr>
        <p:spPr>
          <a:xfrm>
            <a:off x="6903720" y="3657600"/>
            <a:ext cx="4572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4213D"/>
                </a:solidFill>
                <a:latin typeface="Calibri"/>
                <a:ea typeface="Calibri"/>
                <a:cs typeface="Calibri"/>
                <a:sym typeface="Calibri"/>
              </a:rPr>
              <a:t>threshold 0.50   </a:t>
            </a:r>
            <a:r>
              <a:rPr b="0" i="0" lang="en-US" sz="1400" u="none" cap="none" strike="noStrike">
                <a:solidFill>
                  <a:srgbClr val="3F4A5A"/>
                </a:solidFill>
                <a:latin typeface="Calibri"/>
                <a:ea typeface="Calibri"/>
                <a:cs typeface="Calibri"/>
                <a:sym typeface="Calibri"/>
              </a:rPr>
              <a:t>64% fakes · 96% reals · </a:t>
            </a:r>
            <a:r>
              <a:rPr b="1" i="0" lang="en-US" sz="1400" u="none" cap="none" strike="noStrike">
                <a:solidFill>
                  <a:srgbClr val="0E9384"/>
                </a:solidFill>
                <a:latin typeface="Calibri"/>
                <a:ea typeface="Calibri"/>
                <a:cs typeface="Calibri"/>
                <a:sym typeface="Calibri"/>
              </a:rPr>
              <a:t>80% overall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8"/>
          <p:cNvSpPr/>
          <p:nvPr/>
        </p:nvSpPr>
        <p:spPr>
          <a:xfrm>
            <a:off x="6720840" y="4453128"/>
            <a:ext cx="4892040" cy="685800"/>
          </a:xfrm>
          <a:prstGeom prst="roundRect">
            <a:avLst>
              <a:gd fmla="val 10667" name="adj"/>
            </a:avLst>
          </a:prstGeom>
          <a:solidFill>
            <a:srgbClr val="F4F7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8"/>
          <p:cNvSpPr/>
          <p:nvPr/>
        </p:nvSpPr>
        <p:spPr>
          <a:xfrm>
            <a:off x="6903720" y="4453128"/>
            <a:ext cx="4572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4213D"/>
                </a:solidFill>
                <a:latin typeface="Calibri"/>
                <a:ea typeface="Calibri"/>
                <a:cs typeface="Calibri"/>
                <a:sym typeface="Calibri"/>
              </a:rPr>
              <a:t>threshold 0.80   </a:t>
            </a:r>
            <a:r>
              <a:rPr b="0" i="0" lang="en-US" sz="1400" u="none" cap="none" strike="noStrike">
                <a:solidFill>
                  <a:srgbClr val="3F4A5A"/>
                </a:solidFill>
                <a:latin typeface="Calibri"/>
                <a:ea typeface="Calibri"/>
                <a:cs typeface="Calibri"/>
                <a:sym typeface="Calibri"/>
              </a:rPr>
              <a:t>77% fakes · 88% reals · </a:t>
            </a:r>
            <a:r>
              <a:rPr b="1" i="0" lang="en-US" sz="1400" u="none" cap="none" strike="noStrike">
                <a:solidFill>
                  <a:srgbClr val="0E9384"/>
                </a:solidFill>
                <a:latin typeface="Calibri"/>
                <a:ea typeface="Calibri"/>
                <a:cs typeface="Calibri"/>
                <a:sym typeface="Calibri"/>
              </a:rPr>
              <a:t>82% overall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8"/>
          <p:cNvSpPr/>
          <p:nvPr/>
        </p:nvSpPr>
        <p:spPr>
          <a:xfrm>
            <a:off x="6720840" y="5349240"/>
            <a:ext cx="48920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9384"/>
              </a:buClr>
              <a:buSzPts val="1550"/>
              <a:buFont typeface="Calibri"/>
              <a:buNone/>
            </a:pPr>
            <a:r>
              <a:rPr b="1" i="1" lang="en-US" sz="1550" u="none" cap="none" strike="noStrike">
                <a:solidFill>
                  <a:srgbClr val="0E9384"/>
                </a:solidFill>
                <a:latin typeface="Calibri"/>
                <a:ea typeface="Calibri"/>
                <a:cs typeface="Calibri"/>
                <a:sym typeface="Calibri"/>
              </a:rPr>
              <a:t>Tuning picks which errors you make — it doesn't fix generalization.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9"/>
          <p:cNvSpPr/>
          <p:nvPr/>
        </p:nvSpPr>
        <p:spPr>
          <a:xfrm>
            <a:off x="566928" y="603504"/>
            <a:ext cx="128016" cy="128016"/>
          </a:xfrm>
          <a:prstGeom prst="ellipse">
            <a:avLst/>
          </a:prstGeom>
          <a:solidFill>
            <a:srgbClr val="0E938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9"/>
          <p:cNvSpPr/>
          <p:nvPr/>
        </p:nvSpPr>
        <p:spPr>
          <a:xfrm>
            <a:off x="777240" y="457200"/>
            <a:ext cx="10515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9384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E9384"/>
                </a:solidFill>
                <a:latin typeface="Calibri"/>
                <a:ea typeface="Calibri"/>
                <a:cs typeface="Calibri"/>
                <a:sym typeface="Calibri"/>
              </a:rPr>
              <a:t>INTERPRETABILITY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9"/>
          <p:cNvSpPr/>
          <p:nvPr/>
        </p:nvSpPr>
        <p:spPr>
          <a:xfrm>
            <a:off x="548640" y="786384"/>
            <a:ext cx="110642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14213D"/>
                </a:solidFill>
                <a:latin typeface="Cambria"/>
                <a:ea typeface="Cambria"/>
                <a:cs typeface="Cambria"/>
                <a:sym typeface="Cambria"/>
              </a:rPr>
              <a:t>What is the model looking at?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9"/>
          <p:cNvSpPr/>
          <p:nvPr/>
        </p:nvSpPr>
        <p:spPr>
          <a:xfrm>
            <a:off x="640080" y="1572768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9384"/>
              </a:buClr>
              <a:buSzPts val="1750"/>
              <a:buFont typeface="Calibri"/>
              <a:buNone/>
            </a:pPr>
            <a:r>
              <a:rPr b="1" i="0" lang="en-US" sz="1750" u="none" cap="none" strike="noStrike">
                <a:solidFill>
                  <a:srgbClr val="0E9384"/>
                </a:solidFill>
                <a:latin typeface="Calibri"/>
                <a:ea typeface="Calibri"/>
                <a:cs typeface="Calibri"/>
                <a:sym typeface="Calibri"/>
              </a:rPr>
              <a:t>Grad-CAM highlights the pixels that drove each prediction (red = most influential).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sessions/quirky-eloquent-babbage/mnt/outputs/deck_assets/gradcam.png" id="154" name="Google Shape;154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" y="2103120"/>
            <a:ext cx="11155680" cy="3849624"/>
          </a:xfrm>
          <a:prstGeom prst="rect">
            <a:avLst/>
          </a:prstGeom>
          <a:noFill/>
          <a:ln>
            <a:noFill/>
          </a:ln>
          <a:effectLst>
            <a:outerShdw blurRad="114300" rotWithShape="0" algn="bl" dir="5400000" dist="38100">
              <a:srgbClr val="9AA7B4">
                <a:alpha val="30196"/>
              </a:srgbClr>
            </a:outerShdw>
          </a:effectLst>
        </p:spPr>
      </p:pic>
      <p:sp>
        <p:nvSpPr>
          <p:cNvPr id="155" name="Google Shape;155;p9"/>
          <p:cNvSpPr/>
          <p:nvPr/>
        </p:nvSpPr>
        <p:spPr>
          <a:xfrm>
            <a:off x="548640" y="6035040"/>
            <a:ext cx="11155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699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7A8699"/>
                </a:solidFill>
                <a:latin typeface="Calibri"/>
                <a:ea typeface="Calibri"/>
                <a:cs typeface="Calibri"/>
                <a:sym typeface="Calibri"/>
              </a:rPr>
              <a:t>It attends to the rendered subject, not the background — reading generation artifacts in the object itself. (First panel is a missed fake: confidently called real.)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213D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0"/>
          <p:cNvSpPr/>
          <p:nvPr/>
        </p:nvSpPr>
        <p:spPr>
          <a:xfrm>
            <a:off x="566928" y="603504"/>
            <a:ext cx="128016" cy="128016"/>
          </a:xfrm>
          <a:prstGeom prst="ellipse">
            <a:avLst/>
          </a:prstGeom>
          <a:solidFill>
            <a:srgbClr val="34D3C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0"/>
          <p:cNvSpPr/>
          <p:nvPr/>
        </p:nvSpPr>
        <p:spPr>
          <a:xfrm>
            <a:off x="777240" y="457200"/>
            <a:ext cx="10515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D3C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34D3C2"/>
                </a:solidFill>
                <a:latin typeface="Calibri"/>
                <a:ea typeface="Calibri"/>
                <a:cs typeface="Calibri"/>
                <a:sym typeface="Calibri"/>
              </a:rPr>
              <a:t>LIVE DEMO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0"/>
          <p:cNvSpPr/>
          <p:nvPr/>
        </p:nvSpPr>
        <p:spPr>
          <a:xfrm>
            <a:off x="548640" y="786384"/>
            <a:ext cx="110642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Human vs. Model — let's play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0"/>
          <p:cNvSpPr/>
          <p:nvPr/>
        </p:nvSpPr>
        <p:spPr>
          <a:xfrm>
            <a:off x="1975104" y="2560320"/>
            <a:ext cx="2651760" cy="2651760"/>
          </a:xfrm>
          <a:prstGeom prst="roundRect">
            <a:avLst>
              <a:gd fmla="val 4828" name="adj"/>
            </a:avLst>
          </a:prstGeom>
          <a:solidFill>
            <a:srgbClr val="FFFFFF"/>
          </a:solidFill>
          <a:ln>
            <a:noFill/>
          </a:ln>
          <a:effectLst>
            <a:outerShdw blurRad="114300" rotWithShape="0" algn="bl" dir="5400000" dist="38100">
              <a:srgbClr val="9AA7B4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sessions/quirky-eloquent-babbage/mnt/outputs/deck_assets/qr.png" id="165" name="Google Shape;165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67712" y="2852928"/>
            <a:ext cx="2066544" cy="2066544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0"/>
          <p:cNvSpPr/>
          <p:nvPr/>
        </p:nvSpPr>
        <p:spPr>
          <a:xfrm>
            <a:off x="1975104" y="5394960"/>
            <a:ext cx="2651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4D3C2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34D3C2"/>
                </a:solidFill>
                <a:latin typeface="Calibri"/>
                <a:ea typeface="Calibri"/>
                <a:cs typeface="Calibri"/>
                <a:sym typeface="Calibri"/>
              </a:rPr>
              <a:t>SCAN TO PLAY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0"/>
          <p:cNvSpPr/>
          <p:nvPr/>
        </p:nvSpPr>
        <p:spPr>
          <a:xfrm>
            <a:off x="5212080" y="2788920"/>
            <a:ext cx="51206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00"/>
              <a:buFont typeface="Cambria"/>
              <a:buNone/>
            </a:pPr>
            <a:r>
              <a:rPr b="1" i="0" lang="en-US" sz="31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Play it in your browser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0"/>
          <p:cNvSpPr/>
          <p:nvPr/>
        </p:nvSpPr>
        <p:spPr>
          <a:xfrm>
            <a:off x="5212080" y="3639312"/>
            <a:ext cx="5120640" cy="777240"/>
          </a:xfrm>
          <a:prstGeom prst="roundRect">
            <a:avLst>
              <a:gd fmla="val 11765" name="adj"/>
            </a:avLst>
          </a:prstGeom>
          <a:solidFill>
            <a:srgbClr val="1E3157"/>
          </a:solidFill>
          <a:ln cap="flat" cmpd="sng" w="19050">
            <a:solidFill>
              <a:srgbClr val="34D3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0"/>
          <p:cNvSpPr/>
          <p:nvPr/>
        </p:nvSpPr>
        <p:spPr>
          <a:xfrm>
            <a:off x="5212080" y="3639312"/>
            <a:ext cx="51206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4D3C2"/>
              </a:buClr>
              <a:buSzPts val="1650"/>
              <a:buFont typeface="Calibri"/>
              <a:buNone/>
            </a:pPr>
            <a:r>
              <a:rPr b="1" i="0" lang="en-US" sz="1650" u="none" cap="none" strike="noStrike">
                <a:solidFill>
                  <a:srgbClr val="34D3C2"/>
                </a:solidFill>
                <a:latin typeface="Calibri"/>
                <a:ea typeface="Calibri"/>
                <a:cs typeface="Calibri"/>
                <a:sym typeface="Calibri"/>
              </a:rPr>
              <a:t>lwurtzel.github.io/Discerning-the-Synthetic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0"/>
          <p:cNvSpPr/>
          <p:nvPr/>
        </p:nvSpPr>
        <p:spPr>
          <a:xfrm>
            <a:off x="5212080" y="4663440"/>
            <a:ext cx="5120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FE8E4"/>
              </a:buClr>
              <a:buSzPts val="1600"/>
              <a:buFont typeface="Calibri"/>
              <a:buNone/>
            </a:pPr>
            <a:r>
              <a:rPr b="0" i="1" lang="en-US" sz="1600" u="none" cap="none" strike="noStrike">
                <a:solidFill>
                  <a:srgbClr val="CFE8E4"/>
                </a:solidFill>
                <a:latin typeface="Calibri"/>
                <a:ea typeface="Calibri"/>
                <a:cs typeface="Calibri"/>
                <a:sym typeface="Calibri"/>
              </a:rPr>
              <a:t>Same twenty images — can you beat the model?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213D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1"/>
          <p:cNvSpPr/>
          <p:nvPr/>
        </p:nvSpPr>
        <p:spPr>
          <a:xfrm>
            <a:off x="566928" y="603504"/>
            <a:ext cx="128016" cy="128016"/>
          </a:xfrm>
          <a:prstGeom prst="ellipse">
            <a:avLst/>
          </a:prstGeom>
          <a:solidFill>
            <a:srgbClr val="34D3C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1"/>
          <p:cNvSpPr/>
          <p:nvPr/>
        </p:nvSpPr>
        <p:spPr>
          <a:xfrm>
            <a:off x="777240" y="457200"/>
            <a:ext cx="10515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D3C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34D3C2"/>
                </a:solidFill>
                <a:latin typeface="Calibri"/>
                <a:ea typeface="Calibri"/>
                <a:cs typeface="Calibri"/>
                <a:sym typeface="Calibri"/>
              </a:rPr>
              <a:t>LESSONS LEARNED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1"/>
          <p:cNvSpPr/>
          <p:nvPr/>
        </p:nvSpPr>
        <p:spPr>
          <a:xfrm>
            <a:off x="548640" y="786384"/>
            <a:ext cx="110642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What we learned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1"/>
          <p:cNvSpPr/>
          <p:nvPr/>
        </p:nvSpPr>
        <p:spPr>
          <a:xfrm>
            <a:off x="822960" y="1965960"/>
            <a:ext cx="548640" cy="548640"/>
          </a:xfrm>
          <a:prstGeom prst="ellipse">
            <a:avLst/>
          </a:prstGeom>
          <a:solidFill>
            <a:srgbClr val="34D3C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1"/>
          <p:cNvSpPr/>
          <p:nvPr/>
        </p:nvSpPr>
        <p:spPr>
          <a:xfrm>
            <a:off x="822960" y="196596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14213D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1"/>
          <p:cNvSpPr/>
          <p:nvPr/>
        </p:nvSpPr>
        <p:spPr>
          <a:xfrm>
            <a:off x="1600200" y="1920240"/>
            <a:ext cx="9875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Detectors are brittle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1"/>
          <p:cNvSpPr/>
          <p:nvPr/>
        </p:nvSpPr>
        <p:spPr>
          <a:xfrm>
            <a:off x="1600200" y="2395728"/>
            <a:ext cx="9784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CFE8E4"/>
              </a:buClr>
              <a:buSzPts val="1650"/>
              <a:buFont typeface="Calibri"/>
              <a:buNone/>
            </a:pPr>
            <a:r>
              <a:rPr b="0" i="0" lang="en-US" sz="1650" u="none" cap="none" strike="noStrike">
                <a:solidFill>
                  <a:srgbClr val="CFE8E4"/>
                </a:solidFill>
                <a:latin typeface="Calibri"/>
                <a:ea typeface="Calibri"/>
                <a:cs typeface="Calibri"/>
                <a:sym typeface="Calibri"/>
              </a:rPr>
              <a:t>A model trained on one generator collapses to chance on generators it never saw.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1"/>
          <p:cNvSpPr/>
          <p:nvPr/>
        </p:nvSpPr>
        <p:spPr>
          <a:xfrm>
            <a:off x="822960" y="3246120"/>
            <a:ext cx="548640" cy="548640"/>
          </a:xfrm>
          <a:prstGeom prst="ellipse">
            <a:avLst/>
          </a:prstGeom>
          <a:solidFill>
            <a:srgbClr val="34D3C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1"/>
          <p:cNvSpPr/>
          <p:nvPr/>
        </p:nvSpPr>
        <p:spPr>
          <a:xfrm>
            <a:off x="822960" y="324612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14213D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1"/>
          <p:cNvSpPr/>
          <p:nvPr/>
        </p:nvSpPr>
        <p:spPr>
          <a:xfrm>
            <a:off x="1600200" y="3200400"/>
            <a:ext cx="9875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The failure is systematic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1"/>
          <p:cNvSpPr/>
          <p:nvPr/>
        </p:nvSpPr>
        <p:spPr>
          <a:xfrm>
            <a:off x="1600200" y="3675888"/>
            <a:ext cx="9784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CFE8E4"/>
              </a:buClr>
              <a:buSzPts val="1650"/>
              <a:buFont typeface="Calibri"/>
              <a:buNone/>
            </a:pPr>
            <a:r>
              <a:rPr b="0" i="0" lang="en-US" sz="1650" u="none" cap="none" strike="noStrike">
                <a:solidFill>
                  <a:srgbClr val="CFE8E4"/>
                </a:solidFill>
                <a:latin typeface="Calibri"/>
                <a:ea typeface="Calibri"/>
                <a:cs typeface="Calibri"/>
                <a:sym typeface="Calibri"/>
              </a:rPr>
              <a:t>Training across generators helps — and the mistakes aren't random: unseen fakes get called “real.”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1"/>
          <p:cNvSpPr/>
          <p:nvPr/>
        </p:nvSpPr>
        <p:spPr>
          <a:xfrm>
            <a:off x="822960" y="4526280"/>
            <a:ext cx="548640" cy="548640"/>
          </a:xfrm>
          <a:prstGeom prst="ellipse">
            <a:avLst/>
          </a:prstGeom>
          <a:solidFill>
            <a:srgbClr val="34D3C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11"/>
          <p:cNvSpPr/>
          <p:nvPr/>
        </p:nvSpPr>
        <p:spPr>
          <a:xfrm>
            <a:off x="822960" y="452628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14213D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1"/>
          <p:cNvSpPr/>
          <p:nvPr/>
        </p:nvSpPr>
        <p:spPr>
          <a:xfrm>
            <a:off x="1600200" y="4480560"/>
            <a:ext cx="9875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Generalization is the real challenge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1"/>
          <p:cNvSpPr/>
          <p:nvPr/>
        </p:nvSpPr>
        <p:spPr>
          <a:xfrm>
            <a:off x="1600200" y="4956048"/>
            <a:ext cx="9784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CFE8E4"/>
              </a:buClr>
              <a:buSzPts val="1650"/>
              <a:buFont typeface="Calibri"/>
              <a:buNone/>
            </a:pPr>
            <a:r>
              <a:rPr b="0" i="0" lang="en-US" sz="1650" u="none" cap="none" strike="noStrike">
                <a:solidFill>
                  <a:srgbClr val="CFE8E4"/>
                </a:solidFill>
                <a:latin typeface="Calibri"/>
                <a:ea typeface="Calibri"/>
                <a:cs typeface="Calibri"/>
                <a:sym typeface="Calibri"/>
              </a:rPr>
              <a:t>Thresholds trade off which errors you make; they don't teach the model new fingerprints.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1"/>
          <p:cNvSpPr/>
          <p:nvPr/>
        </p:nvSpPr>
        <p:spPr>
          <a:xfrm>
            <a:off x="548640" y="612648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4D3C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34D3C2"/>
                </a:solidFill>
                <a:latin typeface="Calibri"/>
                <a:ea typeface="Calibri"/>
                <a:cs typeface="Calibri"/>
                <a:sym typeface="Calibri"/>
              </a:rPr>
              <a:t>Code, models &amp; figures:   github.com/LWurtzel/Discerning-the-Synthetic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213D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2"/>
          <p:cNvSpPr/>
          <p:nvPr/>
        </p:nvSpPr>
        <p:spPr>
          <a:xfrm>
            <a:off x="566928" y="603504"/>
            <a:ext cx="128016" cy="128016"/>
          </a:xfrm>
          <a:prstGeom prst="ellipse">
            <a:avLst/>
          </a:prstGeom>
          <a:solidFill>
            <a:srgbClr val="34D3C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2"/>
          <p:cNvSpPr/>
          <p:nvPr/>
        </p:nvSpPr>
        <p:spPr>
          <a:xfrm>
            <a:off x="777240" y="457200"/>
            <a:ext cx="10515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D3C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34D3C2"/>
                </a:solidFill>
                <a:latin typeface="Calibri"/>
                <a:ea typeface="Calibri"/>
                <a:cs typeface="Calibri"/>
                <a:sym typeface="Calibri"/>
              </a:rPr>
              <a:t>FUTURE DIRECTIONS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2"/>
          <p:cNvSpPr/>
          <p:nvPr/>
        </p:nvSpPr>
        <p:spPr>
          <a:xfrm>
            <a:off x="548640" y="786384"/>
            <a:ext cx="110642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Where this goes next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2"/>
          <p:cNvSpPr/>
          <p:nvPr/>
        </p:nvSpPr>
        <p:spPr>
          <a:xfrm>
            <a:off x="822960" y="1755648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FE8E4"/>
              </a:buClr>
              <a:buSzPts val="1650"/>
              <a:buFont typeface="Calibri"/>
              <a:buNone/>
            </a:pPr>
            <a:r>
              <a:rPr b="0" i="1" lang="en-US" sz="1650" u="none" cap="none" strike="noStrike">
                <a:solidFill>
                  <a:srgbClr val="CFE8E4"/>
                </a:solidFill>
                <a:latin typeface="Calibri"/>
                <a:ea typeface="Calibri"/>
                <a:cs typeface="Calibri"/>
                <a:sym typeface="Calibri"/>
              </a:rPr>
              <a:t>The no-limits version — more data, more generators, a real tool: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2"/>
          <p:cNvSpPr/>
          <p:nvPr/>
        </p:nvSpPr>
        <p:spPr>
          <a:xfrm>
            <a:off x="822960" y="2377440"/>
            <a:ext cx="530352" cy="530352"/>
          </a:xfrm>
          <a:prstGeom prst="ellipse">
            <a:avLst/>
          </a:prstGeom>
          <a:solidFill>
            <a:srgbClr val="34D3C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2"/>
          <p:cNvSpPr/>
          <p:nvPr/>
        </p:nvSpPr>
        <p:spPr>
          <a:xfrm>
            <a:off x="822960" y="2377440"/>
            <a:ext cx="530352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2300"/>
              <a:buFont typeface="Cambria"/>
              <a:buNone/>
            </a:pPr>
            <a:r>
              <a:rPr b="1" i="0" lang="en-US" sz="2300" u="none" cap="none" strike="noStrike">
                <a:solidFill>
                  <a:srgbClr val="14213D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2"/>
          <p:cNvSpPr/>
          <p:nvPr/>
        </p:nvSpPr>
        <p:spPr>
          <a:xfrm>
            <a:off x="1554480" y="2340864"/>
            <a:ext cx="9875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mbria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Close the gap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2"/>
          <p:cNvSpPr/>
          <p:nvPr/>
        </p:nvSpPr>
        <p:spPr>
          <a:xfrm>
            <a:off x="1554480" y="2798064"/>
            <a:ext cx="9966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CFE8E4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CFE8E4"/>
                </a:solidFill>
                <a:latin typeface="Calibri"/>
                <a:ea typeface="Calibri"/>
                <a:cs typeface="Calibri"/>
                <a:sym typeface="Calibri"/>
              </a:rPr>
              <a:t>Fine-tune on more generators and add newer ones — SDXL, DALL·E 3, Flux — so unseen-generator accuracy climbs.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2"/>
          <p:cNvSpPr/>
          <p:nvPr/>
        </p:nvSpPr>
        <p:spPr>
          <a:xfrm>
            <a:off x="822960" y="3566160"/>
            <a:ext cx="530352" cy="530352"/>
          </a:xfrm>
          <a:prstGeom prst="ellipse">
            <a:avLst/>
          </a:prstGeom>
          <a:solidFill>
            <a:srgbClr val="34D3C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2"/>
          <p:cNvSpPr/>
          <p:nvPr/>
        </p:nvSpPr>
        <p:spPr>
          <a:xfrm>
            <a:off x="822960" y="3566160"/>
            <a:ext cx="530352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2300"/>
              <a:buFont typeface="Cambria"/>
              <a:buNone/>
            </a:pPr>
            <a:r>
              <a:rPr b="1" i="0" lang="en-US" sz="2300" u="none" cap="none" strike="noStrike">
                <a:solidFill>
                  <a:srgbClr val="14213D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2"/>
          <p:cNvSpPr/>
          <p:nvPr/>
        </p:nvSpPr>
        <p:spPr>
          <a:xfrm>
            <a:off x="1554480" y="3529584"/>
            <a:ext cx="9875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mbria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Stress-test robustness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2"/>
          <p:cNvSpPr/>
          <p:nvPr/>
        </p:nvSpPr>
        <p:spPr>
          <a:xfrm>
            <a:off x="1554480" y="3986784"/>
            <a:ext cx="9966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CFE8E4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CFE8E4"/>
                </a:solidFill>
                <a:latin typeface="Calibri"/>
                <a:ea typeface="Calibri"/>
                <a:cs typeface="Calibri"/>
                <a:sym typeface="Calibri"/>
              </a:rPr>
              <a:t>Does compression, resizing, or a small adversarial tweak break the detector? The real world is messy.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2"/>
          <p:cNvSpPr/>
          <p:nvPr/>
        </p:nvSpPr>
        <p:spPr>
          <a:xfrm>
            <a:off x="822960" y="4754880"/>
            <a:ext cx="530352" cy="530352"/>
          </a:xfrm>
          <a:prstGeom prst="ellipse">
            <a:avLst/>
          </a:prstGeom>
          <a:solidFill>
            <a:srgbClr val="34D3C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2"/>
          <p:cNvSpPr/>
          <p:nvPr/>
        </p:nvSpPr>
        <p:spPr>
          <a:xfrm>
            <a:off x="822960" y="4754880"/>
            <a:ext cx="530352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2300"/>
              <a:buFont typeface="Cambria"/>
              <a:buNone/>
            </a:pPr>
            <a:r>
              <a:rPr b="1" i="0" lang="en-US" sz="2300" u="none" cap="none" strike="noStrike">
                <a:solidFill>
                  <a:srgbClr val="14213D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2"/>
          <p:cNvSpPr/>
          <p:nvPr/>
        </p:nvSpPr>
        <p:spPr>
          <a:xfrm>
            <a:off x="1554480" y="4718304"/>
            <a:ext cx="9875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mbria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Calibrate &amp; ship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2"/>
          <p:cNvSpPr/>
          <p:nvPr/>
        </p:nvSpPr>
        <p:spPr>
          <a:xfrm>
            <a:off x="1554480" y="5175504"/>
            <a:ext cx="9966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CFE8E4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CFE8E4"/>
                </a:solidFill>
                <a:latin typeface="Calibri"/>
                <a:ea typeface="Calibri"/>
                <a:cs typeface="Calibri"/>
                <a:sym typeface="Calibri"/>
              </a:rPr>
              <a:t>Better-calibrated confidence, then package it as a browser extension people could actually use.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213D"/>
        </a:solidFill>
      </p:bgPr>
    </p:bg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3"/>
          <p:cNvSpPr/>
          <p:nvPr/>
        </p:nvSpPr>
        <p:spPr>
          <a:xfrm>
            <a:off x="457200" y="2194560"/>
            <a:ext cx="11274552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600"/>
              <a:buFont typeface="Cambria"/>
              <a:buNone/>
            </a:pPr>
            <a:r>
              <a:rPr b="1" i="0" lang="en-US" sz="5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Thank you</a:t>
            </a:r>
            <a:endParaRPr b="0" i="0" sz="5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3"/>
          <p:cNvSpPr/>
          <p:nvPr/>
        </p:nvSpPr>
        <p:spPr>
          <a:xfrm>
            <a:off x="457200" y="3337560"/>
            <a:ext cx="11274552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4D3C2"/>
              </a:buClr>
              <a:buSzPts val="2300"/>
              <a:buFont typeface="Calibri"/>
              <a:buNone/>
            </a:pPr>
            <a:r>
              <a:rPr b="0" i="0" lang="en-US" sz="2300" u="none" cap="none" strike="noStrike">
                <a:solidFill>
                  <a:srgbClr val="34D3C2"/>
                </a:solidFill>
                <a:latin typeface="Calibri"/>
                <a:ea typeface="Calibri"/>
                <a:cs typeface="Calibri"/>
                <a:sym typeface="Calibri"/>
              </a:rPr>
              <a:t>Questions?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3"/>
          <p:cNvSpPr/>
          <p:nvPr/>
        </p:nvSpPr>
        <p:spPr>
          <a:xfrm>
            <a:off x="2766060" y="4434840"/>
            <a:ext cx="566928" cy="566928"/>
          </a:xfrm>
          <a:prstGeom prst="roundRect">
            <a:avLst>
              <a:gd fmla="val 12903" name="adj"/>
            </a:avLst>
          </a:prstGeom>
          <a:solidFill>
            <a:srgbClr val="1A7F3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3"/>
          <p:cNvSpPr/>
          <p:nvPr/>
        </p:nvSpPr>
        <p:spPr>
          <a:xfrm>
            <a:off x="2766060" y="4434840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3"/>
          <p:cNvSpPr/>
          <p:nvPr/>
        </p:nvSpPr>
        <p:spPr>
          <a:xfrm>
            <a:off x="3442716" y="4434840"/>
            <a:ext cx="566928" cy="566928"/>
          </a:xfrm>
          <a:prstGeom prst="roundRect">
            <a:avLst>
              <a:gd fmla="val 12903" name="adj"/>
            </a:avLst>
          </a:prstGeom>
          <a:solidFill>
            <a:srgbClr val="C154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3"/>
          <p:cNvSpPr/>
          <p:nvPr/>
        </p:nvSpPr>
        <p:spPr>
          <a:xfrm>
            <a:off x="3442716" y="4434840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3"/>
          <p:cNvSpPr/>
          <p:nvPr/>
        </p:nvSpPr>
        <p:spPr>
          <a:xfrm>
            <a:off x="4119372" y="4434840"/>
            <a:ext cx="566928" cy="566928"/>
          </a:xfrm>
          <a:prstGeom prst="roundRect">
            <a:avLst>
              <a:gd fmla="val 12903" name="adj"/>
            </a:avLst>
          </a:prstGeom>
          <a:solidFill>
            <a:srgbClr val="C154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3"/>
          <p:cNvSpPr/>
          <p:nvPr/>
        </p:nvSpPr>
        <p:spPr>
          <a:xfrm>
            <a:off x="4119372" y="4434840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3"/>
          <p:cNvSpPr/>
          <p:nvPr/>
        </p:nvSpPr>
        <p:spPr>
          <a:xfrm>
            <a:off x="4796028" y="4434840"/>
            <a:ext cx="566928" cy="566928"/>
          </a:xfrm>
          <a:prstGeom prst="roundRect">
            <a:avLst>
              <a:gd fmla="val 12903" name="adj"/>
            </a:avLst>
          </a:prstGeom>
          <a:solidFill>
            <a:srgbClr val="1A7F3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3"/>
          <p:cNvSpPr/>
          <p:nvPr/>
        </p:nvSpPr>
        <p:spPr>
          <a:xfrm>
            <a:off x="4796028" y="4434840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3"/>
          <p:cNvSpPr/>
          <p:nvPr/>
        </p:nvSpPr>
        <p:spPr>
          <a:xfrm>
            <a:off x="5472684" y="4434840"/>
            <a:ext cx="566928" cy="566928"/>
          </a:xfrm>
          <a:prstGeom prst="roundRect">
            <a:avLst>
              <a:gd fmla="val 12903" name="adj"/>
            </a:avLst>
          </a:prstGeom>
          <a:solidFill>
            <a:srgbClr val="C154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3"/>
          <p:cNvSpPr/>
          <p:nvPr/>
        </p:nvSpPr>
        <p:spPr>
          <a:xfrm>
            <a:off x="5472684" y="4434840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3"/>
          <p:cNvSpPr/>
          <p:nvPr/>
        </p:nvSpPr>
        <p:spPr>
          <a:xfrm>
            <a:off x="6149340" y="4434840"/>
            <a:ext cx="566928" cy="566928"/>
          </a:xfrm>
          <a:prstGeom prst="roundRect">
            <a:avLst>
              <a:gd fmla="val 12903" name="adj"/>
            </a:avLst>
          </a:prstGeom>
          <a:solidFill>
            <a:srgbClr val="1A7F3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3"/>
          <p:cNvSpPr/>
          <p:nvPr/>
        </p:nvSpPr>
        <p:spPr>
          <a:xfrm>
            <a:off x="6149340" y="4434840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3"/>
          <p:cNvSpPr/>
          <p:nvPr/>
        </p:nvSpPr>
        <p:spPr>
          <a:xfrm>
            <a:off x="6825996" y="4434840"/>
            <a:ext cx="566928" cy="566928"/>
          </a:xfrm>
          <a:prstGeom prst="roundRect">
            <a:avLst>
              <a:gd fmla="val 12903" name="adj"/>
            </a:avLst>
          </a:prstGeom>
          <a:solidFill>
            <a:srgbClr val="C154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3"/>
          <p:cNvSpPr/>
          <p:nvPr/>
        </p:nvSpPr>
        <p:spPr>
          <a:xfrm>
            <a:off x="6825996" y="4434840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3"/>
          <p:cNvSpPr/>
          <p:nvPr/>
        </p:nvSpPr>
        <p:spPr>
          <a:xfrm>
            <a:off x="7502652" y="4434840"/>
            <a:ext cx="566928" cy="566928"/>
          </a:xfrm>
          <a:prstGeom prst="roundRect">
            <a:avLst>
              <a:gd fmla="val 12903" name="adj"/>
            </a:avLst>
          </a:prstGeom>
          <a:solidFill>
            <a:srgbClr val="1A7F3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3"/>
          <p:cNvSpPr/>
          <p:nvPr/>
        </p:nvSpPr>
        <p:spPr>
          <a:xfrm>
            <a:off x="7502652" y="4434840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3"/>
          <p:cNvSpPr/>
          <p:nvPr/>
        </p:nvSpPr>
        <p:spPr>
          <a:xfrm>
            <a:off x="8179308" y="4434840"/>
            <a:ext cx="566928" cy="566928"/>
          </a:xfrm>
          <a:prstGeom prst="roundRect">
            <a:avLst>
              <a:gd fmla="val 12903" name="adj"/>
            </a:avLst>
          </a:prstGeom>
          <a:solidFill>
            <a:srgbClr val="C154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3"/>
          <p:cNvSpPr/>
          <p:nvPr/>
        </p:nvSpPr>
        <p:spPr>
          <a:xfrm>
            <a:off x="8179308" y="4434840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3"/>
          <p:cNvSpPr/>
          <p:nvPr/>
        </p:nvSpPr>
        <p:spPr>
          <a:xfrm>
            <a:off x="8855964" y="4434840"/>
            <a:ext cx="566928" cy="566928"/>
          </a:xfrm>
          <a:prstGeom prst="roundRect">
            <a:avLst>
              <a:gd fmla="val 12903" name="adj"/>
            </a:avLst>
          </a:prstGeom>
          <a:solidFill>
            <a:srgbClr val="1A7F3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13"/>
          <p:cNvSpPr/>
          <p:nvPr/>
        </p:nvSpPr>
        <p:spPr>
          <a:xfrm>
            <a:off x="8855964" y="4434840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3"/>
          <p:cNvSpPr/>
          <p:nvPr/>
        </p:nvSpPr>
        <p:spPr>
          <a:xfrm>
            <a:off x="457200" y="5394960"/>
            <a:ext cx="1127455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FA0AE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8FA0AE"/>
                </a:solidFill>
                <a:latin typeface="Calibri"/>
                <a:ea typeface="Calibri"/>
                <a:cs typeface="Calibri"/>
                <a:sym typeface="Calibri"/>
              </a:rPr>
              <a:t>github.com/LWurtzel/Discerning-the-Synthetic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2026-07-16T16:56:28Z</dcterms:created>
  <dc:creator>Liev Wurtzel</dc:creator>
</cp:coreProperties>
</file>